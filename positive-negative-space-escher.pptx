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Today we explore positive and negative space — one of the most fundamental principles in visual art. We'll use M.C. Escher's mesmerizing work as our guide because no artist exploited this concept more brilliantly or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lesson students should be able to identify and discuss positive and negative space, and analyze Escher's artwork through this lens.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space is the main subject. Ask students: what makes something 'positive' space? It's about intent and focal attention, not just color or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space is the background — but it's never passive. The Rubin Vase is the textbook example. Ask students: which reading came first for you? What made you 'flip' to the other?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concepts are the foundation. Escher took reversibility to its logical extreme, creating compositions where it is impossible to say which space is 'figure' and which is 'ground.'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Escher is the perfect artist to teach positive/negative space because he made the interplay between figure and ground the entire subject of his work. He was a graphic artist — precise, reproducible, and deeply intentional.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Sky and Water I (1938) is Escher's clearest demonstration. Ask students: at what point does the positive space change? Can they point to that exact row? The answer is that there is no single line — it happens gradually through the negative-space 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and Night (1938) is Escher's most beloved print. The discussion question has no correct answer. Both sets of birds are simultaneously figure and ground — which you perceive first is entirely subjective. That ambiguity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Circle Limit III represents Escher's late-career mastery. He worked directly from Coxeter's mathematical descriptions of hyperbolic space. Key insight: at this level of complexity, the very distinction between positive and negative space dissolves.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tessellation method is Escher's secret weapon. By deforming the edges of geometric tiles in a balanced way, the positive and negative spaces are always perfect complements — mathematically inevitable, not just artistic intuition.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activity takes 20-30 minutes. The key moment is the reflection: when students cut their tile, they only 'designed' one edge — yet the negative space was automatically created. This is exactly how Escher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that positive/negative space isn't just an abstract art concept — it's fundamental to every visual discipline. The FedEx arrow example is always striking: ask students if they've ever noticed the hidden arrow between the E and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returning to the opening checkerboard pattern. Ask: which squares are positive space and which are negative? The answer: it depends entirely on which you choose to 'see' as figure — and that choice can flip at any moment. That's the Escher insight, and that's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287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3716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7145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0574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4003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432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0861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4290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7719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4577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006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51435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" y="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" y="3429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" y="6858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" y="10287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" y="13716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" y="17145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" y="20574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" y="24003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" y="27432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" y="30861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" y="34290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" y="37719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" y="41148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" y="44577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" y="48006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" y="51435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3429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6858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10287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13716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" y="17145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20574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" y="24003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27432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" y="30861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" y="34290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37719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41148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" y="44577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" y="48006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5800" y="51435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8700" y="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8700" y="3429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8700" y="6858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28700" y="10287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8700" y="13716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28700" y="17145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8700" y="20574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28700" y="24003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8700" y="27432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28700" y="30861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8700" y="34290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28700" y="37719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8700" y="41148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8700" y="44577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8700" y="48006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28700" y="51435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71600" y="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71600" y="3429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71600" y="6858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71600" y="10287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71600" y="13716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71600" y="17145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71600" y="20574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71600" y="24003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71600" y="27432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71600" y="30861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71600" y="34290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71600" y="37719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71600" y="41148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371600" y="44577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371600" y="48006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71600" y="51435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0" y="0"/>
            <a:ext cx="1714500" cy="5143500"/>
          </a:xfrm>
          <a:prstGeom prst="rect">
            <a:avLst/>
          </a:prstGeom>
          <a:solidFill>
            <a:srgbClr val="0D1B2A">
              <a:alpha val="6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103120" y="50292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&amp;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Space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Art</a:t>
            </a:r>
            <a:endParaRPr lang="en-US" sz="4600" dirty="0"/>
          </a:p>
        </p:txBody>
      </p:sp>
      <p:sp>
        <p:nvSpPr>
          <p:cNvPr id="84" name="Text 82"/>
          <p:cNvSpPr/>
          <p:nvPr/>
        </p:nvSpPr>
        <p:spPr>
          <a:xfrm>
            <a:off x="2103120" y="35204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Visual Duality Through the Work of M.C. Escher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2103120" y="4480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Fundamentals  ·  Visual Composition  ·  Figure–Ground Perception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positive and negative space in visual art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56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856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both spaces in artworks and everyday design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69464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15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6151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Escher used figure–ground reversal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741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3741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positive and negative space work together to create meaning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087368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330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1330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principle in your own compositions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01752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88720"/>
            <a:ext cx="9144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965960"/>
            <a:ext cx="640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108960"/>
            <a:ext cx="54864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3108960"/>
            <a:ext cx="54864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480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bird = positive space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320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Space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80560" y="10972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area occupied by the main subject — figures, objects, or shapes the artist intentionally places in the composition.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697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bird in Escher's "Sky and Water"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31363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figure in a portrait painting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57530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tree in a landscape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40142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letters in a typographic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4663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Positive space is defined by intent and focus — not just color.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128016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005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3657600"/>
            <a:ext cx="91440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822960"/>
            <a:ext cx="128016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1371600"/>
            <a:ext cx="1005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3657600"/>
            <a:ext cx="91440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the dark gap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shapes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4526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see two faces or a vase?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320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Space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29200" y="10972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area surrounding and between subjects — the background and gaps that give the positive space its shape and meaning.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697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space is never truly "empty." It actively shapes how we read the positive space. Without it, there is no figure — just undifferentiated surface.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931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Rubin Vase (left):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4251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which space you read as "figure," you see either two face profiles or a vase. Both readings are valid — and that's the point.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&amp; Ground: Two Sides of One Coin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794760"/>
          </a:xfrm>
          <a:prstGeom prst="rect">
            <a:avLst/>
          </a:prstGeom>
          <a:solidFill>
            <a:srgbClr val="1B28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91440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Interdependent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have positive space without negative space. Removing one destroys the other — each exists only in relation to what it is not.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3794760"/>
          </a:xfrm>
          <a:prstGeom prst="rect">
            <a:avLst/>
          </a:prstGeom>
          <a:solidFill>
            <a:srgbClr val="1B2838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914400"/>
            <a:ext cx="640080" cy="6400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22860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positive space feels cramped; too much negative space feels empty. Great compositions live in the tension between the two.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3794760"/>
          </a:xfrm>
          <a:prstGeom prst="rect">
            <a:avLst/>
          </a:prstGeom>
          <a:solidFill>
            <a:srgbClr val="1B28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9144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22860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strongest compositions the eye can flip — reading either space as "figure." This perceptual ambiguity is the Escher signature.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57200"/>
            <a:ext cx="2834640" cy="2834640"/>
          </a:xfrm>
          <a:prstGeom prst="rect">
            <a:avLst/>
          </a:prstGeom>
          <a:solidFill>
            <a:srgbClr val="1B28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M.C. Escher Portrait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984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photograph here]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1898 – 1972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3840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"Only those who attempt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absurd will achieve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impossible."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228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Maurits Cornelis Escher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40480" y="868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Graphic Artist  ·  1898 – 1972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16916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mathematical training — yet his art engaged deeply with geometry, topology, and the infinite.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258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Overlooked in his time: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257860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ignored by the fine-art world; beloved by mathematicians and scientists.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31455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paradox: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346557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spaces, infinite loops, and figure–ground reversals that challenge the eye and mind.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40325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works: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435254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"Day and Night," "Sky and Water," "Relativity," "Drawing Hands," Circle Limit series.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Sky and Water I · 1938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Woodcut in two colors  ·  Escher's clearest positive/negative reversal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3749040"/>
          </a:xfrm>
          <a:prstGeom prst="rect">
            <a:avLst/>
          </a:prstGeom>
          <a:solidFill>
            <a:srgbClr val="1B28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Sky and Water I 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081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Escher, 1938 — Woodcut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0" y="1097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4480560" cy="79552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6093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190195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geese are positive space; white sky is negative. The birds dominate.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404872"/>
            <a:ext cx="4480560" cy="795528"/>
          </a:xfrm>
          <a:prstGeom prst="rect">
            <a:avLst/>
          </a:prstGeom>
          <a:solidFill>
            <a:srgbClr val="0D1B2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4597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275234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zone: bird-shapes and fish-shapes interlock. Neither is clearly figure or ground.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3255264"/>
            <a:ext cx="4480560" cy="795528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3310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360273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fish are positive space; dark water is negative. Roles have completely reversed.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4105656"/>
            <a:ext cx="4480560" cy="795528"/>
          </a:xfrm>
          <a:prstGeom prst="rect">
            <a:avLst/>
          </a:prstGeom>
          <a:solidFill>
            <a:srgbClr val="00B4D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4160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44531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spatial reversal is seamless — negative space in the middle is the vehicle of transformation.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and Night · 1938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Escher's most reproduced work  ·  Woodcut in black and gray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3566160"/>
          </a:xfrm>
          <a:prstGeom prst="rect">
            <a:avLst/>
          </a:prstGeom>
          <a:solidFill>
            <a:srgbClr val="1B28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Day and Night 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9900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Escher, 1938 — Woodcut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0" y="15544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White birds fly left into a daytime sky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202996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Black birds fly right into a nighttime sky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250545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farmland below is mirror-reversed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98094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Bird-shapes interlock perfectly in the center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345643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Day and night are simultaneously positive AND negative space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39319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outline divides them — only color reversal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4434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Which birds are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"positive" space — white or black?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 Limit III · 1959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Woodcut in five colors  ·  Escher meets hyperbolic geometry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3749040"/>
          </a:xfrm>
          <a:prstGeom prst="rect">
            <a:avLst/>
          </a:prstGeom>
          <a:solidFill>
            <a:srgbClr val="1B28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Circle Limit III 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081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Escher, 1959 — Woodcut, 5 colors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0" y="1097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Infinite Space in a Finite Circle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0" y="169164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Escher collaborated with mathematician H.S.M. Coxeter to create this hyperbolic geometry print. Fish shapes shrink toward the edge — mathematically infinite, perceptually bounded.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3017520"/>
            <a:ext cx="36576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017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Colors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32644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color of fish creates its own positive space — the other colors become its negative space.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3520440"/>
            <a:ext cx="36576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520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Self-Similar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3767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repeats at every scale. There is no "background" — just nested positive spaces.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4023360"/>
            <a:ext cx="36576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40233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Infinity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4270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circle's edge represents infinity. Space compresses, but it never ends.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4526280"/>
            <a:ext cx="36576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4526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True Ground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47731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complexity, positive and negative space break down entirely — every form is simultaneously figure and ground.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Tessellation Secret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Escher made positive and negative space interlock perfectly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3520440"/>
          </a:xfrm>
          <a:prstGeom prst="rect">
            <a:avLst/>
          </a:prstGeom>
          <a:solidFill>
            <a:srgbClr val="1B28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1170432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1328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Tile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a simple geometric shape — a square, triangle, or hexagon — that tessellates with no gaps.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97480" cy="3520440"/>
          </a:xfrm>
          <a:prstGeom prst="rect">
            <a:avLst/>
          </a:prstGeom>
          <a:solidFill>
            <a:srgbClr val="1B2838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1170432"/>
            <a:ext cx="640080" cy="6400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Deform the Edges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51460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each edge. Any shape cut from one side must be added to the opposite side — so tiles still interlock.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97480" cy="3520440"/>
          </a:xfrm>
          <a:prstGeom prst="rect">
            <a:avLst/>
          </a:prstGeom>
          <a:solidFill>
            <a:srgbClr val="1B28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42048" y="117043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2048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Figure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51460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deformed tile now suggests an animal or figure. The space between tiles automatically forms a complementary shape.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Escher's positive and negative spaces interlock so seamlessly — they are mathematically guaranteed to fit.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Create an Escher Exchange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 Square paper (4"×4"), pencil, black marker, tape, scissors or craft knife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7556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4520" y="17556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 organic line from one edge of the square to the opposite edge — any curve, bump, or wave you like.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7614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Cut: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27614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along that line. You now have two interlocking pieces.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7673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Slide: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74520" y="37673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the cut piece to the opposite side of the square. Tape it in place.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737360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0680" y="17556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Tile: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7556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a shape that tessellates! Trace it repeatedly across a sheet of paper.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743200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7614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27614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colors between adjacent tiles. Use only two colors — like Escher.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37673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Reflect: 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7673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what you made: the positive space of one tile is the negative space of its neighbor.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727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 Which space did you "design" — and which emerged automatically?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&amp; Negative Space Beyond the Canvas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3990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FedEx arrow. IBM stripes. The WWF panda. Iconic logos are defined as much by their negative space as by their marks.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4023360" cy="123444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83480" y="13990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doorway is negative space. Windows are negative space. Buildings are designed around the voids as much as the walls.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13432"/>
            <a:ext cx="402336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counter-space inside letters (hole in "o", gap in "c") is negative space. It defines legibility and style.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313432"/>
            <a:ext cx="4023360" cy="123444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75234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open space around a subject creates breathing room and draws the eye to what matters.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402336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581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&amp; Film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10565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is negative space. Pauses between notes — and cuts between scenes — give meaning to everything around them.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666744"/>
            <a:ext cx="4023360" cy="123444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7581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Sculpture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410565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Moore carved voids through his figures deliberately. The holes are as intentional as the mass.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29500" y="3429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29500" y="6858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29500" y="10287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29500" y="13716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29500" y="17145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29500" y="20574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29500" y="24003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29500" y="27432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29500" y="30861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29500" y="34290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29500" y="37719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29500" y="41148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0" y="44577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9500" y="48006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29500" y="51435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3429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6858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10287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13716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17145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20574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24003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27432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30861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34290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37719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41148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44577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48006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51435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15300" y="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5300" y="3429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15300" y="6858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15300" y="10287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15300" y="13716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15300" y="17145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15300" y="20574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15300" y="24003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15300" y="27432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15300" y="30861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15300" y="34290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15300" y="37719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15300" y="41148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15300" y="44577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15300" y="48006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15300" y="51435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58200" y="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58200" y="3429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58200" y="6858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58200" y="10287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58200" y="13716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58200" y="17145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58200" y="20574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58200" y="24003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58200" y="27432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58200" y="30861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58200" y="34290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58200" y="37719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58200" y="41148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58200" y="44577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58200" y="48006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58200" y="51435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01100" y="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1100" y="3429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801100" y="6858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01100" y="10287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1100" y="13716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01100" y="17145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01100" y="20574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01100" y="24003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801100" y="27432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01100" y="30861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801100" y="34290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801100" y="37719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01100" y="41148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01100" y="44577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801100" y="4800600"/>
            <a:ext cx="342900" cy="34290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801100" y="5143500"/>
            <a:ext cx="3429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D1B2A">
              <a:alpha val="6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2286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84" name="Text 82"/>
          <p:cNvSpPr/>
          <p:nvPr/>
        </p:nvSpPr>
        <p:spPr>
          <a:xfrm>
            <a:off x="457200" y="1005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space </a:t>
            </a:r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subject — any intentional mark, form, or figure.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457200" y="16184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space </a:t>
            </a:r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surrounding area — unoccupied but equally important.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457200" y="223113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inseparable </a:t>
            </a:r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 cannot have one without defining the other.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457200" y="28437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Escher demonstrated </a:t>
            </a:r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positive and negative space can be perfectly reversible and mutually defining.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457200" y="34564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Tessellation </a:t>
            </a:r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mathematical tool that made his interlocking forms possible.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457200" y="4069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 applies </a:t>
            </a:r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logos, architecture, typography, music, film, and sculpture.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457200" y="4663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"To ask whether any given space is positive or negative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to begin to see."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2026-08-19T03:43:24Z</dcterms:created>
  <dcterms:modified xsi:type="dcterms:W3CDTF">2026-08-19T03:43:24Z</dcterms:modified>
</cp:coreProperties>
</file>